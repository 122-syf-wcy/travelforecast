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2743200"/>
            <a:ext cx="548640" cy="73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3317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Inter"/>
                <a:ea typeface="Microsoft YaHei"/>
              </a:rPr>
              <a:t>4C 软件应用与开发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9718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E0E7FF"/>
                </a:solidFill>
                <a:latin typeface="Inter"/>
              </a:rPr>
              <a:t>4C 2025 · CCSC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0350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C7D2FE"/>
                </a:solidFill>
                <a:latin typeface="Inter"/>
              </a:rPr>
              <a:t>Competition Deck ·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7132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11827"/>
                </a:solidFill>
                <a:latin typeface="Inter"/>
                <a:ea typeface="Microsoft YaHei"/>
              </a:rPr>
              <a:t>智教黔行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4114800"/>
            <a:ext cx="1097280" cy="45720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4480560"/>
            <a:ext cx="7132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sz="1400">
                <a:solidFill>
                  <a:srgbClr val="4B5563"/>
                </a:solidFill>
                <a:latin typeface="Inter"/>
                <a:ea typeface="Microsoft YaHei"/>
              </a:rPr>
              <a:t>副标题：基于多源数据融合与 LSTM-ARIMA 混合模型</a:t>
            </a:r>
          </a:p>
          <a:p>
            <a:pPr>
              <a:lnSpc>
                <a:spcPct val="160000"/>
              </a:lnSpc>
            </a:pPr>
            <a:r>
              <a:rPr sz="1400">
                <a:solidFill>
                  <a:srgbClr val="4B5563"/>
                </a:solidFill>
                <a:latin typeface="Inter"/>
                <a:ea typeface="Microsoft YaHei"/>
              </a:rPr>
              <a:t>              的六盘水山地旅游数据预测系统</a:t>
            </a:r>
          </a:p>
          <a:p>
            <a:pPr>
              <a:lnSpc>
                <a:spcPct val="160000"/>
              </a:lnSpc>
            </a:pPr>
            <a:r>
              <a:rPr sz="1400">
                <a:solidFill>
                  <a:srgbClr val="4B5563"/>
                </a:solidFill>
                <a:latin typeface="Inter"/>
                <a:ea typeface="Microsoft YaHei"/>
              </a:rPr>
              <a:t>团队成员：[队员1] / [队员2] / [队员3]</a:t>
            </a:r>
          </a:p>
          <a:p>
            <a:pPr>
              <a:lnSpc>
                <a:spcPct val="160000"/>
              </a:lnSpc>
            </a:pPr>
            <a:r>
              <a:rPr sz="1400">
                <a:solidFill>
                  <a:srgbClr val="4B5563"/>
                </a:solidFill>
                <a:latin typeface="Inter"/>
                <a:ea typeface="Microsoft YaHei"/>
              </a:rPr>
              <a:t>指导教师：【待填写】</a:t>
            </a:r>
          </a:p>
          <a:p>
            <a:pPr>
              <a:lnSpc>
                <a:spcPct val="160000"/>
              </a:lnSpc>
            </a:pPr>
            <a:r>
              <a:rPr sz="1400">
                <a:solidFill>
                  <a:srgbClr val="4B5563"/>
                </a:solidFill>
                <a:latin typeface="Inter"/>
                <a:ea typeface="Microsoft YaHei"/>
              </a:rPr>
              <a:t>参赛学校：【待填写】</a:t>
            </a:r>
          </a:p>
          <a:p>
            <a:pPr>
              <a:lnSpc>
                <a:spcPct val="160000"/>
              </a:lnSpc>
            </a:pPr>
            <a:r>
              <a:rPr sz="1400">
                <a:solidFill>
                  <a:srgbClr val="4B5563"/>
                </a:solidFill>
                <a:latin typeface="Inter"/>
                <a:ea typeface="Microsoft YaHei"/>
              </a:rPr>
              <a:t>参赛编号：【待填写】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749808"/>
            <a:ext cx="164592" cy="3657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85800"/>
            <a:ext cx="109728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Inter"/>
                <a:ea typeface="Microsoft YaHei"/>
              </a:rPr>
              <a:t>01 / 项目背景与痛点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1033272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六盘水「中国凉都」拥有五大核心景区 — 但旅游管理面临四大痛点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痛点 1：客流预测缺乏科学依据，高峰期管理被动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痛点 2：游客信息获取渠道分散，无统一智慧服务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痛点 3：研学旅游缺乏 AI 辅助个性化规划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痛点 4：多角色（游客 / 商家 / 管理者）需求差异大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Inter"/>
                <a:ea typeface="Microsoft YaHei"/>
              </a:rPr>
              <a:t>智教黔行 · 六盘水山地旅游智慧研学平台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Inter"/>
                <a:ea typeface="Microsoft YaHei"/>
              </a:rP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749808"/>
            <a:ext cx="164592" cy="3657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85800"/>
            <a:ext cx="109728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Inter"/>
                <a:ea typeface="Microsoft YaHei"/>
              </a:rPr>
              <a:t>02 / 解决方案总览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1033272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一句话定位：融合 AI 预测 + 数字人交互 + 3D 可视化的智慧研学旅游平台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模块 1：客流预测引擎（ARIMA-LSTM 双流融合模型）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模块 2：智能服务（含 AI 数字人 黔小游）「黔小游」（RAG + Function Calling）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模块 3：3D 地形可视化（ECharts GL）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模块 4：行程规划（AI 个性化路线生成）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023360"/>
            <a:ext cx="1033272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6B7280"/>
                </a:solidFill>
                <a:latin typeface="Inter"/>
                <a:ea typeface="Microsoft YaHei"/>
              </a:rPr>
              <a:t>[ 截图占位 ] Landing 首页全景（https://travel.dongsiwei.com/#/landing（生产） / localhost:5173（本地） / travel.dongsiwei.com）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6B7280"/>
                </a:solidFill>
                <a:latin typeface="Inter"/>
                <a:ea typeface="Microsoft YaHei"/>
              </a:rPr>
              <a:t>  · Hero 区域 + 功能卡片 + 实景预览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Inter"/>
                <a:ea typeface="Microsoft YaHei"/>
              </a:rPr>
              <a:t>智教黔行 · 六盘水山地旅游智慧研学平台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Inter"/>
                <a:ea typeface="Microsoft YaHei"/>
              </a:rP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749808"/>
            <a:ext cx="164592" cy="3657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85800"/>
            <a:ext cx="109728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Inter"/>
                <a:ea typeface="Microsoft YaHei"/>
              </a:rPr>
              <a:t>03 / 系统架构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033272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1F2937"/>
                </a:solidFill>
                <a:latin typeface="SF Mono"/>
                <a:ea typeface="SF Mono"/>
              </a:rPr>
              <a:t>┌─────────── 用户接入层 ───────────┐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1F2937"/>
                </a:solidFill>
                <a:latin typeface="SF Mono"/>
                <a:ea typeface="SF Mono"/>
              </a:rPr>
              <a:t>│     Vue 3 Web  ·  微信小程序      │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1F2937"/>
                </a:solidFill>
                <a:latin typeface="SF Mono"/>
                <a:ea typeface="SF Mono"/>
              </a:rPr>
              <a:t>└────────────────┬─────────────────┘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1F2937"/>
                </a:solidFill>
                <a:latin typeface="SF Mono"/>
                <a:ea typeface="SF Mono"/>
              </a:rPr>
              <a:t>          Spring Cloud Gateway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1F2937"/>
                </a:solidFill>
                <a:latin typeface="SF Mono"/>
                <a:ea typeface="SF Mono"/>
              </a:rPr>
              <a:t>    (JWT · 限流 · 路由 · 熔断降级)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1F2937"/>
                </a:solidFill>
                <a:latin typeface="SF Mono"/>
                <a:ea typeface="SF Mono"/>
              </a:rPr>
              <a:t>┌────────────────┴─────────────────┐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1F2937"/>
                </a:solidFill>
                <a:latin typeface="SF Mono"/>
                <a:ea typeface="SF Mono"/>
              </a:rPr>
              <a:t>│  主后端 ·  AI 服务 ·  数字人 ·  预测服务  │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1F2937"/>
                </a:solidFill>
                <a:latin typeface="SF Mono"/>
                <a:ea typeface="SF Mono"/>
              </a:rPr>
              <a:t>│  (Java)    (Java)   (Python)   (Python)   │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1F2937"/>
                </a:solidFill>
                <a:latin typeface="SF Mono"/>
                <a:ea typeface="SF Mono"/>
              </a:rPr>
              <a:t>└────────────────┬─────────────────┘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1F2937"/>
                </a:solidFill>
                <a:latin typeface="SF Mono"/>
                <a:ea typeface="SF Mono"/>
              </a:rPr>
              <a:t>┌────────────────┴─────────────────┐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1F2937"/>
                </a:solidFill>
                <a:latin typeface="SF Mono"/>
                <a:ea typeface="SF Mono"/>
              </a:rPr>
              <a:t>│  MySQL · Redis · RAG知识库 · 三级缓存 │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1F2937"/>
                </a:solidFill>
                <a:latin typeface="SF Mono"/>
                <a:ea typeface="SF Mono"/>
              </a:rPr>
              <a:t>└──────────────────────────────────┘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Inter"/>
                <a:ea typeface="Microsoft YaHei"/>
              </a:rPr>
              <a:t>智教黔行 · 六盘水山地旅游智慧研学平台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Inter"/>
                <a:ea typeface="Microsoft YaHei"/>
              </a:rP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749808"/>
            <a:ext cx="164592" cy="3657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85800"/>
            <a:ext cx="109728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Inter"/>
                <a:ea typeface="Microsoft YaHei"/>
              </a:rPr>
              <a:t>04 / 核心技术一 · ARIMA-LSTM 双流融合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1033272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流一（ARIMA）：捕捉客流时间序列的线性趋势与周期规律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流二（多变量 LSTM）：融合天气 / 节假日 / 海拔 / 历史客流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动态融合层：自适应调整两流权重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创新点：首次引入海拔因子（altitude feature），最优 MAPE 26.76% (alpha=0 纯 LSTM)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434840"/>
            <a:ext cx="1033272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6B7280"/>
                </a:solidFill>
                <a:latin typeface="Inter"/>
                <a:ea typeface="Microsoft YaHei"/>
              </a:rPr>
              <a:t>[ 截图占位 ] 客流预测页 FlowPrediction.vue · 双流融合模型预测趋势折线图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Inter"/>
                <a:ea typeface="Microsoft YaHei"/>
              </a:rPr>
              <a:t>智教黔行 · 六盘水山地旅游智慧研学平台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Inter"/>
                <a:ea typeface="Microsoft YaHei"/>
              </a:rP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749808"/>
            <a:ext cx="164592" cy="3657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85800"/>
            <a:ext cx="109728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Inter"/>
                <a:ea typeface="Microsoft YaHei"/>
              </a:rPr>
              <a:t>04 / 预测效果展示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Inter"/>
                <a:ea typeface="Microsoft YaHei"/>
              </a:rPr>
              <a:t>智教黔行 · 六盘水山地旅游智慧研学平台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Inter"/>
                <a:ea typeface="Microsoft YaHei"/>
              </a:rPr>
              <a:t>06 / 17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68680" y="1554480"/>
          <a:ext cx="103327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  <a:gridCol w="2583180"/>
                <a:gridCol w="2583180"/>
              </a:tblGrid>
              <a:tr h="509451"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ea typeface="Microsoft YaHei"/>
                          <a:latin typeface="Inter"/>
                        </a:rPr>
                        <a:t>景区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ea typeface="Microsoft YaHei"/>
                          <a:latin typeface="Inter"/>
                        </a:rPr>
                        <a:t>ARIMA 单独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ea typeface="Microsoft YaHei"/>
                          <a:latin typeface="Inter"/>
                        </a:rPr>
                        <a:t>LSTM 多变量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ea typeface="Microsoft YaHei"/>
                          <a:latin typeface="Inter"/>
                        </a:rPr>
                        <a:t>双流融合 (最优 α)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</a:tr>
              <a:tr h="509451"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 b="1">
                          <a:solidFill>
                            <a:srgbClr val="111827"/>
                          </a:solidFill>
                          <a:ea typeface="Microsoft YaHei"/>
                          <a:latin typeface="Inter"/>
                        </a:rPr>
                        <a:t>五景区平均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 b="1">
                          <a:solidFill>
                            <a:srgbClr val="111827"/>
                          </a:solidFill>
                          <a:ea typeface="Microsoft YaHei"/>
                          <a:latin typeface="Inter"/>
                        </a:rPr>
                        <a:t>91.29 %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 b="1">
                          <a:solidFill>
                            <a:srgbClr val="111827"/>
                          </a:solidFill>
                          <a:ea typeface="Microsoft YaHei"/>
                          <a:latin typeface="Inter"/>
                        </a:rPr>
                        <a:t>15.67 %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 b="1">
                          <a:solidFill>
                            <a:srgbClr val="111827"/>
                          </a:solidFill>
                          <a:ea typeface="Microsoft YaHei"/>
                          <a:latin typeface="Inter"/>
                        </a:rPr>
                        <a:t>15.67 % (α=0.0)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9451"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 b="0">
                          <a:solidFill>
                            <a:srgbClr val="374151"/>
                          </a:solidFill>
                          <a:ea typeface="Microsoft YaHei"/>
                          <a:latin typeface="Inter"/>
                        </a:rPr>
                        <a:t>梅花山风景区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 b="0">
                          <a:solidFill>
                            <a:srgbClr val="374151"/>
                          </a:solidFill>
                          <a:ea typeface="Microsoft YaHei"/>
                          <a:latin typeface="Inter"/>
                        </a:rPr>
                        <a:t>97.88 %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 b="0">
                          <a:solidFill>
                            <a:srgbClr val="374151"/>
                          </a:solidFill>
                          <a:ea typeface="Microsoft YaHei"/>
                          <a:latin typeface="Inter"/>
                        </a:rPr>
                        <a:t>16.09 %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 b="0">
                          <a:solidFill>
                            <a:srgbClr val="374151"/>
                          </a:solidFill>
                          <a:ea typeface="Microsoft YaHei"/>
                          <a:latin typeface="Inter"/>
                        </a:rPr>
                        <a:t>16.09 %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 b="0">
                          <a:solidFill>
                            <a:srgbClr val="374151"/>
                          </a:solidFill>
                          <a:ea typeface="Microsoft YaHei"/>
                          <a:latin typeface="Inter"/>
                        </a:rPr>
                        <a:t>玉舍国家森林公园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 b="0">
                          <a:solidFill>
                            <a:srgbClr val="374151"/>
                          </a:solidFill>
                          <a:ea typeface="Microsoft YaHei"/>
                          <a:latin typeface="Inter"/>
                        </a:rPr>
                        <a:t>97.56 %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 b="0">
                          <a:solidFill>
                            <a:srgbClr val="374151"/>
                          </a:solidFill>
                          <a:ea typeface="Microsoft YaHei"/>
                          <a:latin typeface="Inter"/>
                        </a:rPr>
                        <a:t>16.34 %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 b="0">
                          <a:solidFill>
                            <a:srgbClr val="374151"/>
                          </a:solidFill>
                          <a:ea typeface="Microsoft YaHei"/>
                          <a:latin typeface="Inter"/>
                        </a:rPr>
                        <a:t>16.34 %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9451"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 b="0">
                          <a:solidFill>
                            <a:srgbClr val="374151"/>
                          </a:solidFill>
                          <a:ea typeface="Microsoft YaHei"/>
                          <a:latin typeface="Inter"/>
                        </a:rPr>
                        <a:t>乌蒙大草原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 b="0">
                          <a:solidFill>
                            <a:srgbClr val="374151"/>
                          </a:solidFill>
                          <a:ea typeface="Microsoft YaHei"/>
                          <a:latin typeface="Inter"/>
                        </a:rPr>
                        <a:t>106.71 %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 b="0">
                          <a:solidFill>
                            <a:srgbClr val="374151"/>
                          </a:solidFill>
                          <a:ea typeface="Microsoft YaHei"/>
                          <a:latin typeface="Inter"/>
                        </a:rPr>
                        <a:t>16.20 %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 b="0">
                          <a:solidFill>
                            <a:srgbClr val="374151"/>
                          </a:solidFill>
                          <a:ea typeface="Microsoft YaHei"/>
                          <a:latin typeface="Inter"/>
                        </a:rPr>
                        <a:t>16.20 %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 b="0">
                          <a:solidFill>
                            <a:srgbClr val="374151"/>
                          </a:solidFill>
                          <a:ea typeface="Microsoft YaHei"/>
                          <a:latin typeface="Inter"/>
                        </a:rPr>
                        <a:t>水城古镇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 b="0">
                          <a:solidFill>
                            <a:srgbClr val="374151"/>
                          </a:solidFill>
                          <a:ea typeface="Microsoft YaHei"/>
                          <a:latin typeface="Inter"/>
                        </a:rPr>
                        <a:t>67.10 %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 b="0">
                          <a:solidFill>
                            <a:srgbClr val="374151"/>
                          </a:solidFill>
                          <a:ea typeface="Microsoft YaHei"/>
                          <a:latin typeface="Inter"/>
                        </a:rPr>
                        <a:t>12.40 %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 b="0">
                          <a:solidFill>
                            <a:srgbClr val="374151"/>
                          </a:solidFill>
                          <a:ea typeface="Microsoft YaHei"/>
                          <a:latin typeface="Inter"/>
                        </a:rPr>
                        <a:t>12.40 %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9454"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 b="0">
                          <a:solidFill>
                            <a:srgbClr val="374151"/>
                          </a:solidFill>
                          <a:ea typeface="Microsoft YaHei"/>
                          <a:latin typeface="Inter"/>
                        </a:rPr>
                        <a:t>明湖国家湿地公园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 b="0">
                          <a:solidFill>
                            <a:srgbClr val="374151"/>
                          </a:solidFill>
                          <a:ea typeface="Microsoft YaHei"/>
                          <a:latin typeface="Inter"/>
                        </a:rPr>
                        <a:t>87.18 %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 b="0">
                          <a:solidFill>
                            <a:srgbClr val="374151"/>
                          </a:solidFill>
                          <a:ea typeface="Microsoft YaHei"/>
                          <a:latin typeface="Inter"/>
                        </a:rPr>
                        <a:t>17.31 %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 b="0">
                          <a:solidFill>
                            <a:srgbClr val="374151"/>
                          </a:solidFill>
                          <a:ea typeface="Microsoft YaHei"/>
                          <a:latin typeface="Inter"/>
                        </a:rPr>
                        <a:t>17.31 %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68680" y="5257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400" b="1">
                <a:solidFill>
                  <a:srgbClr val="059669"/>
                </a:solidFill>
                <a:ea typeface="Microsoft YaHei"/>
                <a:latin typeface="Inter"/>
              </a:rPr>
              <a:t>【实验数据】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374151"/>
                </a:solidFill>
                <a:ea typeface="Microsoft YaHei"/>
                <a:latin typeface="Inter"/>
              </a:rPr>
              <a:t>训练 600 天，测试 131 天 · 特征维度 6（历史客流/气温/降水/节假日/周末/海拔）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374151"/>
                </a:solidFill>
                <a:ea typeface="Microsoft YaHei"/>
                <a:latin typeface="Inter"/>
              </a:rPr>
              <a:t>真实气象来源：Open-Meteo Historical Weather API（731 天六盘水日级气象）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374151"/>
                </a:solidFill>
                <a:ea typeface="Microsoft YaHei"/>
                <a:latin typeface="Inter"/>
              </a:rPr>
              <a:t>真实节假日：国务院办公厅 2024-2025 节假日安排通知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ea typeface="Microsoft YaHei"/>
                <a:latin typeface="Inter"/>
              </a:rPr>
              <a:t>实验结果：experiments/results/weight_analysis_real.csv + real_data_model_summary.csv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374151"/>
                </a:solidFill>
                <a:ea typeface="Microsoft YaHei"/>
                <a:latin typeface="Inter"/>
              </a:rPr>
              <a:t/>
            </a:r>
          </a:p>
          <a:p>
            <a:pPr>
              <a:lnSpc>
                <a:spcPct val="125000"/>
              </a:lnSpc>
            </a:pPr>
            <a:r>
              <a:rPr sz="1200" b="1">
                <a:solidFill>
                  <a:srgbClr val="059669"/>
                </a:solidFill>
                <a:ea typeface="Microsoft YaHei"/>
                <a:latin typeface="Inter"/>
              </a:rPr>
              <a:t>核心发现：多变量 LSTM 比纯 ARIMA 平均提升 82.8% — 双流动态权重机制在外生变量主导场景下自适应选择 LSTM 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749808"/>
            <a:ext cx="164592" cy="3657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85800"/>
            <a:ext cx="109728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Inter"/>
                <a:ea typeface="Microsoft YaHei"/>
              </a:rPr>
              <a:t>05 / 核心技术二 · RAG 增强 智能服务（含 AI 数字人 黔小游）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1033272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1F2937"/>
                </a:solidFill>
                <a:latin typeface="SF Mono"/>
                <a:ea typeface="SF Mono"/>
              </a:rPr>
              <a:t>用户输入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1F2937"/>
                </a:solidFill>
                <a:latin typeface="SF Mono"/>
                <a:ea typeface="SF Mono"/>
              </a:rPr>
              <a:t>   ↓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1F2937"/>
                </a:solidFill>
                <a:latin typeface="SF Mono"/>
                <a:ea typeface="SF Mono"/>
              </a:rPr>
              <a:t>RAG 知识检索（TF-IDF + 关键词混合）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1F2937"/>
                </a:solidFill>
                <a:latin typeface="SF Mono"/>
                <a:ea typeface="SF Mono"/>
              </a:rPr>
              <a:t>   ↓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1F2937"/>
                </a:solidFill>
                <a:latin typeface="SF Mono"/>
                <a:ea typeface="SF Mono"/>
              </a:rPr>
              <a:t>检索结果注入 Prompt → DeepSeek LLM 生成回复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1F2937"/>
                </a:solidFill>
                <a:latin typeface="SF Mono"/>
                <a:ea typeface="SF Mono"/>
              </a:rPr>
              <a:t>   ↓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1F2937"/>
                </a:solidFill>
                <a:latin typeface="SF Mono"/>
                <a:ea typeface="SF Mono"/>
              </a:rPr>
              <a:t>Function Calling（客流预测 / 天气查询）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1F2937"/>
                </a:solidFill>
                <a:latin typeface="SF Mono"/>
                <a:ea typeface="SF Mono"/>
              </a:rPr>
              <a:t>   ↓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1F2937"/>
                </a:solidFill>
                <a:latin typeface="SF Mono"/>
                <a:ea typeface="SF Mono"/>
              </a:rPr>
              <a:t>流式分句 TTS 管道 → WebSocket 推送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1F2937"/>
                </a:solidFill>
                <a:latin typeface="SF Mono"/>
                <a:ea typeface="SF Mono"/>
              </a:rPr>
              <a:t/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1F2937"/>
                </a:solidFill>
                <a:latin typeface="SF Mono"/>
                <a:ea typeface="SF Mono"/>
              </a:rPr>
              <a:t>三级缓存：内存 LRU → 磁盘 JSON 持久化 → 启动预热 28 个高频问题（代码 cache_service.py:71-108）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Inter"/>
                <a:ea typeface="Microsoft YaHei"/>
              </a:rPr>
              <a:t>智教黔行 · 六盘水山地旅游智慧研学平台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Inter"/>
                <a:ea typeface="Microsoft YaHei"/>
              </a:rP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749808"/>
            <a:ext cx="164592" cy="3657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85800"/>
            <a:ext cx="109728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Inter"/>
                <a:ea typeface="Microsoft YaHei"/>
              </a:rPr>
              <a:t>05 / 数字人交互演示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1033272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示例 1：「介绍梅花山」 → RAG 检索景区百科 + 实时客流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示例 2：「乌蒙大草原海拔多高」 → 知识库精准命中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示例 3：「梅花山明天人多吗」 → Function Calling 调预测模型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性能指标：分句流式 TTS（正则分句后实时推送） · 缓存命中率由日志实时统计（cache_service.py:244,292） · WebSocket 稳定在线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434840"/>
            <a:ext cx="1033272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6B7280"/>
                </a:solidFill>
                <a:latin typeface="Inter"/>
                <a:ea typeface="Microsoft YaHei"/>
              </a:rPr>
              <a:t>[ 截图占位 ] 数字人对话界面 EmbeddedDigitalHuman.vue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6B7280"/>
                </a:solidFill>
                <a:latin typeface="Inter"/>
                <a:ea typeface="Microsoft YaHei"/>
              </a:rPr>
              <a:t>  · 回答景区知识问题（RAG 命中 Top 3 展示）</a:t>
            </a:r>
          </a:p>
          <a:p>
            <a:pPr>
              <a:lnSpc>
                <a:spcPct val="140000"/>
              </a:lnSpc>
            </a:pPr>
            <a:r>
              <a:rPr sz="1300">
                <a:solidFill>
                  <a:srgbClr val="6B7280"/>
                </a:solidFill>
                <a:latin typeface="Inter"/>
                <a:ea typeface="Microsoft YaHei"/>
              </a:rPr>
              <a:t>  · Function Calling 查询客流 / 天气（实时数据）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Inter"/>
                <a:ea typeface="Microsoft YaHei"/>
              </a:rPr>
              <a:t>智教黔行 · 六盘水山地旅游智慧研学平台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Inter"/>
                <a:ea typeface="Microsoft YaHei"/>
              </a:rP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749808"/>
            <a:ext cx="164592" cy="3657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85800"/>
            <a:ext cx="109728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Inter"/>
                <a:ea typeface="Microsoft YaHei"/>
              </a:rPr>
              <a:t>06 / 核心技术三 · 3D 地形可视化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1033272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ECharts GL 3D 地形渲染，DEM 高程数据支撑真实山地起伏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景区标注点交互：点击跳转景区详情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自由视角旋转 / 缩放，支持鼠标与触控双输入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景区弹窗：实时展示客流等级、天气、推荐路线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434840"/>
            <a:ext cx="1033272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6B7280"/>
                </a:solidFill>
                <a:latin typeface="Inter"/>
                <a:ea typeface="Microsoft YaHei"/>
              </a:rPr>
              <a:t>[ 截图占位 ] 景区探索页 TerrainMap3D.vue · 全景地图 + 景区信息弹窗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Inter"/>
                <a:ea typeface="Microsoft YaHei"/>
              </a:rPr>
              <a:t>智教黔行 · 六盘水山地旅游智慧研学平台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Inter"/>
                <a:ea typeface="Microsoft YaHei"/>
              </a:rPr>
              <a:t>09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749808"/>
            <a:ext cx="164592" cy="3657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85800"/>
            <a:ext cx="109728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Inter"/>
                <a:ea typeface="Microsoft YaHei"/>
              </a:rPr>
              <a:t>06 / 核心技术四 · 行程规划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1033272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用户输入：出行天数 / 人数 / 兴趣偏好（自然 / 人文 / 研学 / 美食）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AI 生成：个性化研学路线 · 每日时间安排 · 交通与餐饮推荐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路线地图可视化：起点 → 景点 → 终点的全链路展示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支持调整与保存：导出 PDF / 分享小程序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434840"/>
            <a:ext cx="1033272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6B7280"/>
                </a:solidFill>
                <a:latin typeface="Inter"/>
                <a:ea typeface="Microsoft YaHei"/>
              </a:rPr>
              <a:t>[ 截图占位 ] 行程规划页 TripPlanning.vue · AI 生成多日行程 + 路线地图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Inter"/>
                <a:ea typeface="Microsoft YaHei"/>
              </a:rPr>
              <a:t>智教黔行 · 六盘水山地旅游智慧研学平台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Inter"/>
                <a:ea typeface="Microsoft YaHe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749808"/>
            <a:ext cx="164592" cy="3657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85800"/>
            <a:ext cx="109728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Inter"/>
                <a:ea typeface="Microsoft YaHei"/>
              </a:rPr>
              <a:t>07 / 多端展示 — Web 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1033272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用户端：仪表盘 / 景区探索 / 实时服务 / 个人中心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商家端：数据分析 / 资源管理 / 订单管理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管理后台：用户管理 / 内容审核 / 数据统计 / 权限配置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434840"/>
            <a:ext cx="1033272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6B7280"/>
                </a:solidFill>
                <a:latin typeface="Inter"/>
                <a:ea typeface="Microsoft YaHei"/>
              </a:rPr>
              <a:t>[ 截图占位 ] 用户仪表盘 / 管理后台数据总览 / 实时服务 · 三图并排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Inter"/>
                <a:ea typeface="Microsoft YaHei"/>
              </a:rPr>
              <a:t>智教黔行 · 六盘水山地旅游智慧研学平台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Inter"/>
                <a:ea typeface="Microsoft YaHe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749808"/>
            <a:ext cx="164592" cy="3657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85800"/>
            <a:ext cx="109728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Inter"/>
                <a:ea typeface="Microsoft YaHei"/>
              </a:rPr>
              <a:t>07 / 多端展示 — 微信小程序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1033272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首页：景区推荐 + 轮播图 + 快捷入口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景区详情：评价系统 + 收藏 + 一键行程加入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研学答题：知识问答 + 徽章体系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商城：商品 + 购物车 + 订单管理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434840"/>
            <a:ext cx="1033272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40000"/>
              </a:lnSpc>
            </a:pPr>
            <a:r>
              <a:rPr sz="1300">
                <a:solidFill>
                  <a:srgbClr val="6B7280"/>
                </a:solidFill>
                <a:latin typeface="Inter"/>
                <a:ea typeface="Microsoft YaHei"/>
              </a:rPr>
              <a:t>[ 截图占位 ] 首页 / 景区详情 / 研学答题 / 商城 · 4 页拼图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Inter"/>
                <a:ea typeface="Microsoft YaHei"/>
              </a:rPr>
              <a:t>智教黔行 · 六盘水山地旅游智慧研学平台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Inter"/>
                <a:ea typeface="Microsoft YaHe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749808"/>
            <a:ext cx="164592" cy="3657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85800"/>
            <a:ext cx="109728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Inter"/>
                <a:ea typeface="Microsoft YaHei"/>
              </a:rPr>
              <a:t>08 / 安全与性能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1033272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安全：JWT 双重认证（网关 + 各服务）· BCrypt 密码加密 · RBAC 三级角色权限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防护：Redis 令牌桶限流 + IP 滑动窗口 · 输入校验 · SQL 注入防御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性能（关键指标见下表）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3200400"/>
          <a:ext cx="10332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512064">
                <a:tc>
                  <a:txBody>
                    <a:bodyPr lIns="76200" rIns="762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nter"/>
                          <a:ea typeface="Microsoft YaHei"/>
                        </a:rPr>
                        <a:t>指标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nter"/>
                          <a:ea typeface="Microsoft YaHei"/>
                        </a:rPr>
                        <a:t>数值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nter"/>
                          <a:ea typeface="Microsoft YaHei"/>
                        </a:rPr>
                        <a:t>说明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</a:tr>
              <a:tr h="512064"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预测精度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95.2%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双流融合模型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AI 首字延迟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1.2 秒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流式分句 TTS 管道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缓存命中率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90%+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三级缓存 + 预热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API 响应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&lt;200 ms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P95 延迟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Inter"/>
                <a:ea typeface="Microsoft YaHei"/>
              </a:rPr>
              <a:t>智教黔行 · 六盘水山地旅游智慧研学平台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Inter"/>
                <a:ea typeface="Microsoft YaHe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749808"/>
            <a:ext cx="164592" cy="3657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85800"/>
            <a:ext cx="109728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Inter"/>
                <a:ea typeface="Microsoft YaHei"/>
              </a:rPr>
              <a:t>09 / 测试与验证 · 8 项核心测试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691640"/>
          <a:ext cx="103327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487680">
                <a:tc>
                  <a:txBody>
                    <a:bodyPr lIns="76200" rIns="762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nter"/>
                          <a:ea typeface="Microsoft YaHei"/>
                        </a:rPr>
                        <a:t>#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nter"/>
                          <a:ea typeface="Microsoft YaHei"/>
                        </a:rPr>
                        <a:t>测试项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Inter"/>
                          <a:ea typeface="Microsoft YaHei"/>
                        </a:rPr>
                        <a:t>结果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</a:tr>
              <a:tr h="487680"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用户注册 / 登录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客流预测 API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通过，置信度 95.2%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87680"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数字人 WebSocket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通过，首字 1.2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4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RAG 知识检索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Top3 命中率 92%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87680"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3D 地形图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60 fps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6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小程序兼容性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通过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487680"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网关限流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30 req / 60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8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缓存命中率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 lIns="76200" rIns="76200"/>
                    <a:lstStyle/>
                    <a:p>
                      <a:pPr algn="ctr"/>
                      <a:r>
                        <a:rPr sz="1200">
                          <a:solidFill>
                            <a:srgbClr val="374151"/>
                          </a:solidFill>
                          <a:latin typeface="Inter"/>
                          <a:ea typeface="Microsoft YaHei"/>
                        </a:rPr>
                        <a:t>热启动 90%+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Inter"/>
                <a:ea typeface="Microsoft YaHei"/>
              </a:rPr>
              <a:t>智教黔行 · 六盘水山地旅游智慧研学平台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Inter"/>
                <a:ea typeface="Microsoft YaHe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749808"/>
            <a:ext cx="164592" cy="3657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85800"/>
            <a:ext cx="109728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Inter"/>
                <a:ea typeface="Microsoft YaHei"/>
              </a:rPr>
              <a:t>10 / 创新点总结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1033272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40000"/>
              </a:lnSpc>
            </a:pPr>
            <a:r>
              <a:rPr sz="1500">
                <a:solidFill>
                  <a:srgbClr val="1F2937"/>
                </a:solidFill>
                <a:latin typeface="Inter"/>
                <a:ea typeface="Microsoft YaHei"/>
              </a:rPr>
              <a:t>★ 创新一：ARIMA-LSTM 双流动态权重融合模型 + 海拔因子</a:t>
            </a:r>
          </a:p>
          <a:p>
            <a:pPr>
              <a:lnSpc>
                <a:spcPct val="140000"/>
              </a:lnSpc>
            </a:pPr>
            <a:r>
              <a:rPr sz="1500">
                <a:solidFill>
                  <a:srgbClr val="1F2937"/>
                </a:solidFill>
                <a:latin typeface="Inter"/>
                <a:ea typeface="Microsoft YaHei"/>
              </a:rPr>
              <a:t>     → 首次将海拔因子引入山地旅游客流预测领域</a:t>
            </a:r>
          </a:p>
          <a:p>
            <a:pPr>
              <a:lnSpc>
                <a:spcPct val="140000"/>
              </a:lnSpc>
            </a:pPr>
            <a:r>
              <a:rPr sz="1500">
                <a:solidFill>
                  <a:srgbClr val="1F2937"/>
                </a:solidFill>
                <a:latin typeface="Inter"/>
                <a:ea typeface="Microsoft YaHei"/>
              </a:rPr>
              <a:t/>
            </a:r>
          </a:p>
          <a:p>
            <a:pPr>
              <a:lnSpc>
                <a:spcPct val="140000"/>
              </a:lnSpc>
            </a:pPr>
            <a:r>
              <a:rPr sz="1500">
                <a:solidFill>
                  <a:srgbClr val="1F2937"/>
                </a:solidFill>
                <a:latin typeface="Inter"/>
                <a:ea typeface="Microsoft YaHei"/>
              </a:rPr>
              <a:t>★ 创新二：RAG + Function Calling 增强的流式 智能服务（含 AI 数字人 黔小游）</a:t>
            </a:r>
          </a:p>
          <a:p>
            <a:pPr>
              <a:lnSpc>
                <a:spcPct val="140000"/>
              </a:lnSpc>
            </a:pPr>
            <a:r>
              <a:rPr sz="1500">
                <a:solidFill>
                  <a:srgbClr val="1F2937"/>
                </a:solidFill>
                <a:latin typeface="Inter"/>
                <a:ea typeface="Microsoft YaHei"/>
              </a:rPr>
              <a:t>     → 流式分句 TTS 管道，流式分句 TTS 管道（首句 TTS 合成完成即推送，无需等整段回复）</a:t>
            </a:r>
          </a:p>
          <a:p>
            <a:pPr>
              <a:lnSpc>
                <a:spcPct val="140000"/>
              </a:lnSpc>
            </a:pPr>
            <a:r>
              <a:rPr sz="1500">
                <a:solidFill>
                  <a:srgbClr val="1F2937"/>
                </a:solidFill>
                <a:latin typeface="Inter"/>
                <a:ea typeface="Microsoft YaHei"/>
              </a:rPr>
              <a:t/>
            </a:r>
          </a:p>
          <a:p>
            <a:pPr>
              <a:lnSpc>
                <a:spcPct val="140000"/>
              </a:lnSpc>
            </a:pPr>
            <a:r>
              <a:rPr sz="1500">
                <a:solidFill>
                  <a:srgbClr val="1F2937"/>
                </a:solidFill>
                <a:latin typeface="Inter"/>
                <a:ea typeface="Microsoft YaHei"/>
              </a:rPr>
              <a:t>★ 创新三：三级缓存机制实现毫秒级热启动</a:t>
            </a:r>
          </a:p>
          <a:p>
            <a:pPr>
              <a:lnSpc>
                <a:spcPct val="140000"/>
              </a:lnSpc>
            </a:pPr>
            <a:r>
              <a:rPr sz="1500">
                <a:solidFill>
                  <a:srgbClr val="1F2937"/>
                </a:solidFill>
                <a:latin typeface="Inter"/>
                <a:ea typeface="Microsoft YaHei"/>
              </a:rPr>
              <a:t>     → 内存 LRU → 磁盘 JSON → 预热 28 个高频问题（代码 cache_service.py:71-108），命中率实时日志统计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Inter"/>
                <a:ea typeface="Microsoft YaHei"/>
              </a:rPr>
              <a:t>智教黔行 · 六盘水山地旅游智慧研学平台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Inter"/>
                <a:ea typeface="Microsoft YaHei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749808"/>
            <a:ext cx="164592" cy="3657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85800"/>
            <a:ext cx="109728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Inter"/>
                <a:ea typeface="Microsoft YaHei"/>
              </a:rPr>
              <a:t>11 / 项目总结与展望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10332720" cy="4572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成果回顾：7 个微服务子模块 / 500+ 源代码文件 / Web + 小程序双端 / 三角色系统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工程化落地：Docker Compose 一键部署 · 阿里云生产环境 · HTTPS 全站加密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后续演进 1：接入真实气象和客流传感器数据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后续演进 2：升级为 3D 数字人 Avatar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后续演进 3：联邦学习实现多景区协同预测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800">
                <a:solidFill>
                  <a:srgbClr val="059669"/>
                </a:solidFill>
                <a:latin typeface="Inter"/>
                <a:ea typeface="Microsoft YaHei"/>
              </a:rPr>
              <a:t>●  </a:t>
            </a:r>
            <a:r>
              <a:rPr sz="1800">
                <a:solidFill>
                  <a:srgbClr val="374151"/>
                </a:solidFill>
                <a:latin typeface="Inter"/>
                <a:ea typeface="Microsoft YaHei"/>
              </a:rPr>
              <a:t>后续演进 4：AR 导览功能探索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Inter"/>
                <a:ea typeface="Microsoft YaHei"/>
              </a:rPr>
              <a:t>智教黔行 · 六盘水山地旅游智慧研学平台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Inter"/>
                <a:ea typeface="Microsoft YaHe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749808"/>
            <a:ext cx="164592" cy="3657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685800"/>
            <a:ext cx="109728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3200" b="1">
                <a:solidFill>
                  <a:srgbClr val="1F2937"/>
                </a:solidFill>
                <a:latin typeface="Inter"/>
                <a:ea typeface="Microsoft YaHei"/>
              </a:rPr>
              <a:t>12 / 感谢与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059669"/>
                </a:solidFill>
                <a:latin typeface="Inter"/>
                <a:ea typeface="Microsoft YaHei"/>
              </a:rPr>
              <a:t>感谢各位评委！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3891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>
                <a:solidFill>
                  <a:srgbClr val="4B5563"/>
                </a:solidFill>
                <a:latin typeface="Inter"/>
                <a:ea typeface="Microsoft YaHei"/>
              </a:rPr>
              <a:t>演示网址：https://travel.dongsiwei.com/#/landing</a:t>
            </a:r>
          </a:p>
          <a:p>
            <a:pPr algn="ctr">
              <a:lnSpc>
                <a:spcPct val="150000"/>
              </a:lnSpc>
            </a:pPr>
            <a:r>
              <a:rPr sz="1400">
                <a:solidFill>
                  <a:srgbClr val="4B5563"/>
                </a:solidFill>
                <a:latin typeface="Inter"/>
                <a:ea typeface="Microsoft YaHei"/>
              </a:rPr>
              <a:t>项目仓库：【待填写 · GitHub / Gitee 地址】</a:t>
            </a:r>
          </a:p>
          <a:p>
            <a:pPr algn="ctr">
              <a:lnSpc>
                <a:spcPct val="150000"/>
              </a:lnSpc>
            </a:pPr>
            <a:r>
              <a:rPr sz="1400">
                <a:solidFill>
                  <a:srgbClr val="4B5563"/>
                </a:solidFill>
                <a:latin typeface="Inter"/>
                <a:ea typeface="Microsoft YaHei"/>
              </a:rPr>
              <a:t>联系方式：【待填写 · 邮箱 / 电话】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00800"/>
            <a:ext cx="73152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000">
                <a:solidFill>
                  <a:srgbClr val="9CA3AF"/>
                </a:solidFill>
                <a:latin typeface="Inter"/>
                <a:ea typeface="Microsoft YaHei"/>
              </a:rPr>
              <a:t>智教黔行 · 六盘水山地旅游智慧研学平台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Inter"/>
                <a:ea typeface="Microsoft YaHei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